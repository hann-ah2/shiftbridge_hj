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viewProps" Target="viewProps.xml" /><Relationship Id="rId10" Type="http://schemas.openxmlformats.org/officeDocument/2006/relationships/tableStyles" Target="tableStyles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3" Type="http://schemas.openxmlformats.org/officeDocument/2006/relationships/image" Target="media/image5.svg" /><Relationship Id="rId4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12.svg" /><Relationship Id="rId1" Type="http://schemas.openxmlformats.org/officeDocument/2006/relationships/image" Target="media/image5.svg" /><Relationship Id="rId7" Type="http://schemas.openxmlformats.org/officeDocument/2006/relationships/image" Target="media/image13.svg" /><Relationship Id="rId2" Type="http://schemas.openxmlformats.org/officeDocument/2006/relationships/image" Target="media/image8.svg" /><Relationship Id="rId4" Type="http://schemas.openxmlformats.org/officeDocument/2006/relationships/image" Target="media/image10.svg" /><Relationship Id="rId5" Type="http://schemas.openxmlformats.org/officeDocument/2006/relationships/image" Target="media/image11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6.sv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Relationship Id="rId3" Type="http://schemas.openxmlformats.org/officeDocument/2006/relationships/image" Target="media/image17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381000"/>
            <a:ext cx="5334000" cy="6096000"/>
          </a:xfrm>
          <a:custGeom>
            <a:pathLst>
              <a:path w="560" h="640">
                <a:moveTo>
                  <a:pt x="520" y="640"/>
                </a:moveTo>
                <a:lnTo>
                  <a:pt x="0" y="640"/>
                </a:lnTo>
                <a:lnTo>
                  <a:pt x="0" y="0"/>
                </a:lnTo>
                <a:lnTo>
                  <a:pt x="52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762000" y="447675"/>
            <a:ext cx="228600" cy="19050"/>
          </a:xfrm>
          <a:prstGeom prst="rect">
            <a:avLst/>
          </a:pr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085850" y="381000"/>
            <a:ext cx="3286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TRACK 2 — WORKBUDDY / AGENTIC SOLUTIONS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562225"/>
            <a:ext cx="106680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150">
                <a:solidFill>
                  <a:srgbClr val="FFFFFF"/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762000" y="3762375"/>
            <a:ext cx="571500" cy="28575"/>
          </a:xfrm>
          <a:prstGeom prst="rect">
            <a:avLst/>
          </a:pr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422571" y="3652838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One team chat. Smarter workdays.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122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DORMATHON 2026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01 / 07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762000" y="3929063"/>
            <a:ext cx="4337050" cy="3683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chemeClr val="bg1">
                    <a:alpha val="100000"/>
                  </a:schemeClr>
                </a:solidFill>
              </a:rPr>
              <a:t>Track 2: WorkBuddy Track - Agentic Soultions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10668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 spc="-37">
                <a:solidFill>
                  <a:srgbClr val="FFFFFF"/>
                </a:solidFill>
                <a:latin typeface="Microsoft YaHei"/>
                <a:ea typeface="Microsoft YaHei"/>
              </a:rPr>
              <a:t>Messages are delivered.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2000" y="1009650"/>
            <a:ext cx="10668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 spc="-37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But important work gets lost.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90575" y="2886075"/>
            <a:ext cx="3571875" cy="1771650"/>
          </a:xfrm>
          <a:custGeom>
            <a:pathLst>
              <a:path w="375" h="186">
                <a:moveTo>
                  <a:pt x="0" y="0"/>
                </a:moveTo>
                <a:lnTo>
                  <a:pt x="363" y="0"/>
                </a:lnTo>
                <a:cubicBezTo>
                  <a:pt x="370" y="0"/>
                  <a:pt x="375" y="5"/>
                  <a:pt x="375" y="12"/>
                </a:cubicBezTo>
                <a:lnTo>
                  <a:pt x="375" y="174"/>
                </a:lnTo>
                <a:cubicBezTo>
                  <a:pt x="375" y="181"/>
                  <a:pt x="370" y="186"/>
                  <a:pt x="363" y="186"/>
                </a:cubicBezTo>
                <a:lnTo>
                  <a:pt x="0" y="186"/>
                </a:lnTo>
                <a:lnTo>
                  <a:pt x="0" y="18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C897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90575" y="2886075"/>
            <a:ext cx="3571875" cy="1771650"/>
          </a:xfrm>
          <a:custGeom>
            <a:pathLst>
              <a:path w="375" h="186">
                <a:moveTo>
                  <a:pt x="3" y="186"/>
                </a:moveTo>
                <a:lnTo>
                  <a:pt x="0" y="186"/>
                </a:lnTo>
                <a:lnTo>
                  <a:pt x="0" y="0"/>
                </a:lnTo>
                <a:lnTo>
                  <a:pt x="3" y="0"/>
                </a:lnTo>
                <a:close/>
              </a:path>
            </a:pathLst>
          </a:cu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57275" y="3114675"/>
            <a:ext cx="3009900" cy="4762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2700" b="1">
                <a:solidFill>
                  <a:srgbClr val="5DE4B0"/>
                </a:solidFill>
                <a:latin typeface="Microsoft YaHei"/>
                <a:ea typeface="Microsoft YaHei"/>
              </a:rPr>
              <a:t>Communication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57275" y="3629025"/>
            <a:ext cx="30099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does not equal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57275" y="3952875"/>
            <a:ext cx="3009900" cy="4762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2700" b="1">
                <a:solidFill>
                  <a:srgbClr val="5DE4B0"/>
                </a:solidFill>
                <a:latin typeface="Microsoft YaHei"/>
                <a:ea typeface="Microsoft YaHei"/>
              </a:rPr>
              <a:t>Coordination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62000" y="4848225"/>
            <a:ext cx="35718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Cafés, bakeries, retail shops, service teams — all face this cycle.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10125" y="2209800"/>
            <a:ext cx="6477000" cy="38100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02 / 07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36385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 spc="-37">
                <a:solidFill>
                  <a:srgbClr val="FFFFFF"/>
                </a:solidFill>
                <a:latin typeface="Microsoft YaHei"/>
                <a:ea typeface="Microsoft YaHei"/>
              </a:rPr>
              <a:t>Meet ShiftBridge.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62000" y="942975"/>
            <a:ext cx="3638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One team chat. Smarter workdays.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220325" y="1009650"/>
            <a:ext cx="1209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0C8979">
                    <a:alpha val="70000"/>
                  </a:srgbClr>
                </a:solidFill>
                <a:latin typeface="Microsoft YaHei"/>
                <a:ea typeface="Microsoft YaHei"/>
              </a:rPr>
              <a:t>PRODUCT REVEAL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90575" y="2324100"/>
            <a:ext cx="3905250" cy="2057400"/>
          </a:xfrm>
          <a:custGeom>
            <a:pathLst>
              <a:path w="410" h="216">
                <a:moveTo>
                  <a:pt x="0" y="0"/>
                </a:moveTo>
                <a:lnTo>
                  <a:pt x="398" y="0"/>
                </a:lnTo>
                <a:cubicBezTo>
                  <a:pt x="405" y="0"/>
                  <a:pt x="410" y="5"/>
                  <a:pt x="410" y="12"/>
                </a:cubicBezTo>
                <a:lnTo>
                  <a:pt x="410" y="204"/>
                </a:lnTo>
                <a:cubicBezTo>
                  <a:pt x="410" y="211"/>
                  <a:pt x="405" y="216"/>
                  <a:pt x="398" y="216"/>
                </a:cubicBezTo>
                <a:lnTo>
                  <a:pt x="0" y="216"/>
                </a:lnTo>
                <a:lnTo>
                  <a:pt x="0" y="2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C897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90575" y="2324100"/>
            <a:ext cx="3905250" cy="2057400"/>
          </a:xfrm>
          <a:custGeom>
            <a:pathLst>
              <a:path w="410" h="216">
                <a:moveTo>
                  <a:pt x="3" y="216"/>
                </a:moveTo>
                <a:lnTo>
                  <a:pt x="0" y="216"/>
                </a:lnTo>
                <a:lnTo>
                  <a:pt x="0" y="0"/>
                </a:lnTo>
                <a:lnTo>
                  <a:pt x="3" y="0"/>
                </a:lnTo>
                <a:close/>
              </a:path>
            </a:pathLst>
          </a:cu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19175" y="2514600"/>
            <a:ext cx="341947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Turn everyday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19175" y="2933700"/>
            <a:ext cx="341947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5DE4B0"/>
                </a:solidFill>
                <a:latin typeface="Microsoft YaHei"/>
                <a:ea typeface="Microsoft YaHei"/>
              </a:rPr>
              <a:t>conversations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19175" y="3352800"/>
            <a:ext cx="341947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into organized,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19175" y="3771900"/>
            <a:ext cx="341947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5DE4B0"/>
                </a:solidFill>
                <a:latin typeface="Microsoft YaHei"/>
                <a:ea typeface="Microsoft YaHei"/>
              </a:rPr>
              <a:t>accountable work.</a:t>
            </a:r>
            <a:endParaRPr/>
          </a:p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4610100"/>
            <a:ext cx="171450" cy="17145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28700" y="4619625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Familiar messenger-like experience</a:t>
            </a:r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4895850"/>
            <a:ext cx="171450" cy="1714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28700" y="49053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Silent AI behind the conversation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000" y="5181600"/>
            <a:ext cx="171450" cy="17145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28700" y="519112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No separate AI bot to learn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048250" y="4533900"/>
            <a:ext cx="3114675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25400">
            <a:solidFill>
              <a:srgbClr val="0C8979">
                <a:alpha val="3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pic>
        <p:nvPicPr>
          <p:cNvPr id="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77000" y="4886325"/>
            <a:ext cx="266700" cy="26670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267450" y="5210175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MY TASKS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57900" y="5410200"/>
            <a:ext cx="1095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>
                    <a:alpha val="25000"/>
                  </a:srgbClr>
                </a:solidFill>
                <a:latin typeface="Microsoft YaHei"/>
                <a:ea typeface="Microsoft YaHei"/>
              </a:rPr>
              <a:t>Screenshot to be added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315325" y="4533900"/>
            <a:ext cx="3114675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25400">
            <a:solidFill>
              <a:srgbClr val="0C8979">
                <a:alpha val="3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744075" y="4886325"/>
            <a:ext cx="266700" cy="26670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305925" y="521017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ADMINISTRATOR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24975" y="5410200"/>
            <a:ext cx="1095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>
                    <a:alpha val="25000"/>
                  </a:srgbClr>
                </a:solidFill>
                <a:latin typeface="Microsoft YaHei"/>
                <a:ea typeface="Microsoft YaHei"/>
              </a:rPr>
              <a:t>Screenshot to be added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048250" y="1809750"/>
            <a:ext cx="6381750" cy="2571750"/>
          </a:xfrm>
          <a:prstGeom prst="roundRect">
            <a:avLst>
              <a:gd name="adj" fmla="val 4444"/>
            </a:avLst>
          </a:prstGeom>
          <a:solidFill>
            <a:srgbClr val="FFFFFF">
              <a:alpha val="4000"/>
            </a:srgbClr>
          </a:solidFill>
          <a:ln w="25400">
            <a:solidFill>
              <a:srgbClr val="0C8979">
                <a:alpha val="3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48625" y="2686050"/>
            <a:ext cx="381000" cy="381000"/>
          </a:xfrm>
          <a:prstGeom prst="rect">
            <a:avLst/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58050" y="31432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SHIFTBRIDGE TEAM CHAT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39050" y="3381375"/>
            <a:ext cx="1200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25000"/>
                  </a:srgbClr>
                </a:solidFill>
                <a:latin typeface="Microsoft YaHei"/>
                <a:ea typeface="Microsoft YaHei"/>
              </a:rPr>
              <a:t>Screenshot to be added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410825" y="1924050"/>
            <a:ext cx="866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0C8979">
                    <a:alpha val="60000"/>
                  </a:srgbClr>
                </a:solidFill>
                <a:latin typeface="Microsoft YaHei"/>
                <a:ea typeface="Microsoft YaHei"/>
              </a:rPr>
              <a:t>PRIMARY VIEW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03 / 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-37">
                <a:solidFill>
                  <a:srgbClr val="FFFFFF"/>
                </a:solidFill>
                <a:latin typeface="Microsoft YaHei"/>
                <a:ea typeface="Microsoft YaHei"/>
              </a:rPr>
              <a:t xml:space="preserve">One message. </a:t>
            </a:r>
            <a:r>
              <a:rPr lang="en-US" sz="3000" b="1" spc="-37">
                <a:solidFill>
                  <a:srgbClr val="5DE4B0"/>
                </a:solidFill>
                <a:latin typeface="Microsoft YaHei"/>
                <a:ea typeface="Microsoft YaHei"/>
              </a:rPr>
              <a:t>Real action.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2000" y="990600"/>
            <a:ext cx="4914900" cy="361950"/>
          </a:xfrm>
          <a:prstGeom prst="roundRect">
            <a:avLst>
              <a:gd name="adj" fmla="val 52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C8979">
                <a:alpha val="2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095375"/>
            <a:ext cx="152400" cy="1524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219200" y="10858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i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"We're running low on oat milk. Can someone check storage?"</a:t>
            </a:r>
            <a:endParaRPr/>
          </a:p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2076450"/>
            <a:ext cx="10477500" cy="3524250"/>
          </a:xfrm>
          <a:prstGeom prst="rect">
            <a:avLst/>
          </a:prstGeom>
          <a:ln/>
        </p:spPr>
      </p:pic>
      <p:sp>
        <p:nvSpPr>
          <p:cNvPr id="64" name=""/>
          <p:cNvSpPr/>
          <p:nvPr/>
        </p:nvSpPr>
        <p:spPr>
          <a:xfrm rot="0" flipH="0" flipV="0">
            <a:off x="4143375" y="6162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A847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276725" y="6124575"/>
            <a:ext cx="3771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E8A847">
                    <a:alpha val="70000"/>
                  </a:srgbClr>
                </a:solidFill>
                <a:latin typeface="JetBrains Mono"/>
                <a:ea typeface="JetBrains Mono"/>
              </a:rPr>
              <a:t>TARGET AGENTIC WORKFLOW — INTEGRATION IN DEVELOPMENT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04 / 07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-37">
                <a:solidFill>
                  <a:srgbClr val="FFFFFF"/>
                </a:solidFill>
                <a:latin typeface="Microsoft YaHei"/>
                <a:ea typeface="Microsoft YaHei"/>
              </a:rPr>
              <a:t xml:space="preserve">Automate the routine. </a:t>
            </a:r>
            <a:r>
              <a:rPr lang="en-US" sz="3000" b="1" spc="-37">
                <a:solidFill>
                  <a:srgbClr val="E8A847"/>
                </a:solidFill>
                <a:latin typeface="Microsoft YaHei"/>
                <a:ea typeface="Microsoft YaHei"/>
              </a:rPr>
              <a:t>Escalate the critical.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62000" y="1123950"/>
            <a:ext cx="5219700" cy="4229100"/>
          </a:xfrm>
          <a:prstGeom prst="roundRect">
            <a:avLst>
              <a:gd name="adj" fmla="val 2703"/>
            </a:avLst>
          </a:prstGeom>
          <a:solidFill>
            <a:srgbClr val="0C8979">
              <a:alpha val="8000"/>
            </a:srgbClr>
          </a:solidFill>
          <a:ln w="12700">
            <a:solidFill>
              <a:srgbClr val="0C8979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90600" y="1343025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13">
                <a:solidFill>
                  <a:srgbClr val="5DE4B0"/>
                </a:solidFill>
                <a:latin typeface="Microsoft YaHei"/>
                <a:ea typeface="Microsoft YaHei"/>
              </a:rPr>
              <a:t>ROUTINE WORK</a:t>
            </a:r>
            <a:endParaRPr/>
          </a:p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62600" y="1314450"/>
            <a:ext cx="190500" cy="190500"/>
          </a:xfrm>
          <a:prstGeom prst="rect">
            <a:avLst/>
          </a:prstGeom>
          <a:ln/>
        </p:spPr>
      </p:pic>
      <p:sp>
        <p:nvSpPr>
          <p:cNvPr id="74" name=""/>
          <p:cNvSpPr/>
          <p:nvPr/>
        </p:nvSpPr>
        <p:spPr>
          <a:xfrm rot="0" flipH="0" flipV="0">
            <a:off x="990600" y="1638300"/>
            <a:ext cx="1676400" cy="342900"/>
          </a:xfrm>
          <a:prstGeom prst="roundRect">
            <a:avLst>
              <a:gd name="adj" fmla="val 4444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43000" y="1733550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i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"Check oat milk stock."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90600" y="2152650"/>
            <a:ext cx="476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INTENDED ACTION FLOW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990600" y="2419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C897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76325" y="24669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DE4B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295400" y="24574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Verify permission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990600" y="2743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C897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76325" y="2790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DE4B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95400" y="27813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Assign eligible employee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90600" y="3067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C897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76325" y="31146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DE4B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295400" y="31051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Record completion evidence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90600" y="4867275"/>
            <a:ext cx="4762500" cy="295275"/>
          </a:xfrm>
          <a:prstGeom prst="roundRect">
            <a:avLst>
              <a:gd name="adj" fmla="val 25806"/>
            </a:avLst>
          </a:prstGeom>
          <a:solidFill>
            <a:srgbClr val="0C8979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04900" y="4943475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DE4B0"/>
                </a:solidFill>
                <a:latin typeface="Microsoft YaHei"/>
                <a:ea typeface="Microsoft YaHei"/>
              </a:rPr>
              <a:t>Auto-assignable — verified automatically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210300" y="1123950"/>
            <a:ext cx="5219700" cy="4229100"/>
          </a:xfrm>
          <a:prstGeom prst="roundRect">
            <a:avLst>
              <a:gd name="adj" fmla="val 2703"/>
            </a:avLst>
          </a:prstGeom>
          <a:solidFill>
            <a:srgbClr val="E8A847">
              <a:alpha val="8000"/>
            </a:srgbClr>
          </a:solidFill>
          <a:ln w="12700">
            <a:solidFill>
              <a:srgbClr val="E8A847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438900" y="1343025"/>
            <a:ext cx="1181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13">
                <a:solidFill>
                  <a:srgbClr val="E8A847"/>
                </a:solidFill>
                <a:latin typeface="Microsoft YaHei"/>
                <a:ea typeface="Microsoft YaHei"/>
              </a:rPr>
              <a:t>SENSITIVE ISSUE</a:t>
            </a:r>
            <a:endParaRPr/>
          </a:p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010900" y="1314450"/>
            <a:ext cx="190500" cy="190500"/>
          </a:xfrm>
          <a:prstGeom prst="rect">
            <a:avLst/>
          </a:prstGeom>
          <a:ln/>
        </p:spPr>
      </p:pic>
      <p:sp>
        <p:nvSpPr>
          <p:cNvPr id="91" name=""/>
          <p:cNvSpPr/>
          <p:nvPr/>
        </p:nvSpPr>
        <p:spPr>
          <a:xfrm rot="0" flipH="0" flipV="0">
            <a:off x="6438900" y="1638300"/>
            <a:ext cx="2019300" cy="342900"/>
          </a:xfrm>
          <a:prstGeom prst="roundRect">
            <a:avLst>
              <a:gd name="adj" fmla="val 4444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591300" y="1733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i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"Machine 2 is leaking again."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438900" y="2152650"/>
            <a:ext cx="476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INTENDED ACTION FLOW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438900" y="2419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8A847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524625" y="24669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8A847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743700" y="24574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Identify existing issue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438900" y="2743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8A847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524625" y="2790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8A847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743700" y="27813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Alert administrator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438900" y="3067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8A847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524625" y="31146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8A847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743700" y="31051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Require qualified verification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438900" y="4867275"/>
            <a:ext cx="4762500" cy="295275"/>
          </a:xfrm>
          <a:prstGeom prst="roundRect">
            <a:avLst>
              <a:gd name="adj" fmla="val 25806"/>
            </a:avLst>
          </a:prstGeom>
          <a:solidFill>
            <a:srgbClr val="E8A847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553200" y="4943475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A847"/>
                </a:solidFill>
                <a:latin typeface="Microsoft YaHei"/>
                <a:ea typeface="Microsoft YaHei"/>
              </a:rPr>
              <a:t>Human approval required — never auto-closed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62000" y="5543550"/>
            <a:ext cx="20097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57250" y="5619750"/>
            <a:ext cx="152400" cy="152400"/>
          </a:xfrm>
          <a:prstGeom prst="rect">
            <a:avLst/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85850" y="5629275"/>
            <a:ext cx="107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Evidence-linked tasks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2924175" y="5543550"/>
            <a:ext cx="20097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019425" y="5619750"/>
            <a:ext cx="152400" cy="152400"/>
          </a:xfrm>
          <a:prstGeom prst="rect">
            <a:avLst/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248025" y="5629275"/>
            <a:ext cx="981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Duplicate detection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086350" y="55435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181600" y="5619750"/>
            <a:ext cx="152400" cy="15240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410200" y="56292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Completion verified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258050" y="5543550"/>
            <a:ext cx="20097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353300" y="5619750"/>
            <a:ext cx="152400" cy="15240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581900" y="5629275"/>
            <a:ext cx="1476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Human approval for sensitive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9420225" y="5543550"/>
            <a:ext cx="20097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9515475" y="5619750"/>
            <a:ext cx="152400" cy="152400"/>
          </a:xfrm>
          <a:prstGeom prst="rect">
            <a:avLst/>
          </a:prstGeom>
          <a:ln/>
        </p:spPr>
      </p:pic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744075" y="5629275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Action records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295650" y="60007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22">
                <a:solidFill>
                  <a:srgbClr val="FFFFFF"/>
                </a:solidFill>
                <a:latin typeface="Microsoft YaHei"/>
                <a:ea typeface="Microsoft YaHei"/>
              </a:rPr>
              <a:t xml:space="preserve">Autonomous where safe. </a:t>
            </a:r>
            <a:r>
              <a:rPr lang="en-US" sz="1650" b="1" spc="-22">
                <a:solidFill>
                  <a:srgbClr val="E8A847"/>
                </a:solidFill>
                <a:latin typeface="Microsoft YaHei"/>
                <a:ea typeface="Microsoft YaHei"/>
              </a:rPr>
              <a:t>Human-led where necessary.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05 / 07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-37">
                <a:solidFill>
                  <a:srgbClr val="FFFFFF"/>
                </a:solidFill>
                <a:latin typeface="Microsoft YaHei"/>
                <a:ea typeface="Microsoft YaHei"/>
              </a:rPr>
              <a:t xml:space="preserve">Simple on the surface. </a:t>
            </a:r>
            <a:r>
              <a:rPr lang="en-US" sz="3000" b="1" spc="-37">
                <a:solidFill>
                  <a:srgbClr val="5DE4B0"/>
                </a:solidFill>
                <a:latin typeface="Microsoft YaHei"/>
                <a:ea typeface="Microsoft YaHei"/>
              </a:rPr>
              <a:t>Intelligent underneath.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2295525"/>
            <a:ext cx="2876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13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IMPLEMENTATION STATUS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62000" y="259080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5DE4B0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57250" y="2628900"/>
            <a:ext cx="533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5DE4B0"/>
                </a:solidFill>
                <a:latin typeface="Microsoft YaHei"/>
                <a:ea typeface="Microsoft YaHei"/>
              </a:rPr>
              <a:t>EXISTING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81150" y="26098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Frontend built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62000" y="2895600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E8A847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57250" y="2933700"/>
            <a:ext cx="762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E8A847"/>
                </a:solidFill>
                <a:latin typeface="Microsoft YaHei"/>
                <a:ea typeface="Microsoft YaHei"/>
              </a:rPr>
              <a:t>IN PROGRESS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809750" y="2914650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Backend/API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62000" y="3200400"/>
            <a:ext cx="742950" cy="190500"/>
          </a:xfrm>
          <a:prstGeom prst="roundRect">
            <a:avLst>
              <a:gd name="adj" fmla="val 20000"/>
            </a:avLst>
          </a:prstGeom>
          <a:solidFill>
            <a:srgbClr val="0C8979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57250" y="3238500"/>
            <a:ext cx="552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0C8979"/>
                </a:solidFill>
                <a:latin typeface="Microsoft YaHei"/>
                <a:ea typeface="Microsoft YaHei"/>
              </a:rPr>
              <a:t>PLANNED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600200" y="32194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Agent &amp; rules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62000" y="3619500"/>
            <a:ext cx="2876550" cy="847725"/>
          </a:xfrm>
          <a:prstGeom prst="roundRect">
            <a:avLst>
              <a:gd name="adj" fmla="val 8989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4400" y="3733800"/>
            <a:ext cx="25717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Structured data + business policies + authorized tools — not uncontrolled AI decisions.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19550" y="1381125"/>
            <a:ext cx="7239000" cy="4000500"/>
          </a:xfrm>
          <a:prstGeom prst="rect">
            <a:avLst/>
          </a:prstGeom>
          <a:ln/>
        </p:spPr>
      </p:pic>
      <p:sp>
        <p:nvSpPr>
          <p:cNvPr id="139" name=""/>
          <p:cNvSpPr/>
          <p:nvPr/>
        </p:nvSpPr>
        <p:spPr>
          <a:xfrm rot="0" flipH="0" flipV="0">
            <a:off x="790575" y="5772150"/>
            <a:ext cx="10668000" cy="485775"/>
          </a:xfrm>
          <a:custGeom>
            <a:pathLst>
              <a:path w="1120" h="51">
                <a:moveTo>
                  <a:pt x="0" y="0"/>
                </a:moveTo>
                <a:lnTo>
                  <a:pt x="1112" y="0"/>
                </a:lnTo>
                <a:cubicBezTo>
                  <a:pt x="1116" y="0"/>
                  <a:pt x="1120" y="4"/>
                  <a:pt x="1120" y="8"/>
                </a:cubicBezTo>
                <a:lnTo>
                  <a:pt x="1120" y="43"/>
                </a:lnTo>
                <a:cubicBezTo>
                  <a:pt x="1120" y="47"/>
                  <a:pt x="1116" y="51"/>
                  <a:pt x="1112" y="51"/>
                </a:cubicBezTo>
                <a:lnTo>
                  <a:pt x="0" y="51"/>
                </a:lnTo>
                <a:lnTo>
                  <a:pt x="0" y="5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790575" y="5772150"/>
            <a:ext cx="10668000" cy="485775"/>
          </a:xfrm>
          <a:custGeom>
            <a:pathLst>
              <a:path w="1120" h="51">
                <a:moveTo>
                  <a:pt x="3" y="51"/>
                </a:moveTo>
                <a:lnTo>
                  <a:pt x="0" y="51"/>
                </a:lnTo>
                <a:lnTo>
                  <a:pt x="0" y="0"/>
                </a:lnTo>
                <a:lnTo>
                  <a:pt x="3" y="0"/>
                </a:lnTo>
                <a:close/>
              </a:path>
            </a:pathLst>
          </a:cu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5924550"/>
            <a:ext cx="190500" cy="1905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285875" y="5867400"/>
            <a:ext cx="455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C8979">
                    <a:alpha val="70000"/>
                  </a:srgbClr>
                </a:solidFill>
                <a:latin typeface="Microsoft YaHei"/>
                <a:ea typeface="Microsoft YaHei"/>
              </a:rPr>
              <a:t>WORKBUDDY EXECUTION EVIDENCE — TO BE ADDED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285875" y="6029325"/>
            <a:ext cx="455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25000"/>
                  </a:srgbClr>
                </a:solidFill>
                <a:latin typeface="Microsoft YaHei"/>
                <a:ea typeface="Microsoft YaHei"/>
              </a:rPr>
              <a:t>Genuine screenshot or tool-execution record will replace this area once testing is complete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72800" y="6334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06 / 07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D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0" y="4000500"/>
            <a:ext cx="3810000" cy="3810000"/>
          </a:xfrm>
          <a:custGeom>
            <a:pathLst>
              <a:path w="400" h="400">
                <a:moveTo>
                  <a:pt x="300" y="300"/>
                </a:moveTo>
                <a:lnTo>
                  <a:pt x="0" y="300"/>
                </a:lnTo>
                <a:lnTo>
                  <a:pt x="0" y="0"/>
                </a:lnTo>
                <a:lnTo>
                  <a:pt x="300" y="0"/>
                </a:lnTo>
                <a:close/>
              </a:path>
            </a:pathLst>
          </a:cu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-37">
                <a:solidFill>
                  <a:srgbClr val="FFFFFF"/>
                </a:solidFill>
                <a:latin typeface="Microsoft YaHei"/>
                <a:ea typeface="Microsoft YaHei"/>
              </a:rPr>
              <a:t xml:space="preserve">Small businesses deserve </a:t>
            </a:r>
            <a:r>
              <a:rPr lang="en-US" sz="3000" b="1" spc="-37">
                <a:solidFill>
                  <a:srgbClr val="5DE4B0"/>
                </a:solidFill>
                <a:latin typeface="Microsoft YaHei"/>
                <a:ea typeface="Microsoft YaHei"/>
              </a:rPr>
              <a:t>smarter workdays.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28700" y="1314450"/>
            <a:ext cx="480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13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BEFORE SHIFTBRIDGE</a:t>
            </a:r>
            <a:endParaRPr/>
          </a:p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28700" y="1609725"/>
            <a:ext cx="3429000" cy="2286000"/>
          </a:xfrm>
          <a:prstGeom prst="rect">
            <a:avLst/>
          </a:prstGeom>
          <a:ln/>
        </p:spPr>
      </p:pic>
      <p:sp>
        <p:nvSpPr>
          <p:cNvPr id="152" name=""/>
          <p:cNvSpPr/>
          <p:nvPr/>
        </p:nvSpPr>
        <p:spPr>
          <a:xfrm rot="0" flipH="0" flipV="0">
            <a:off x="6096000" y="1219200"/>
            <a:ext cx="9525" cy="38481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72225" y="1314450"/>
            <a:ext cx="4791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13">
                <a:solidFill>
                  <a:srgbClr val="5DE4B0"/>
                </a:solidFill>
                <a:latin typeface="Microsoft YaHei"/>
                <a:ea typeface="Microsoft YaHei"/>
              </a:rPr>
              <a:t>WITH SHIFTBRIDGE — INTENDED EXPERIENCE</a:t>
            </a:r>
            <a:endParaRPr/>
          </a:p>
        </p:txBody>
      </p:sp>
      <p:pic>
        <p:nvPicPr>
          <p:cNvPr id="1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72225" y="1609725"/>
            <a:ext cx="3429000" cy="2286000"/>
          </a:xfrm>
          <a:prstGeom prst="rect">
            <a:avLst/>
          </a:prstGeom>
          <a:ln/>
        </p:spPr>
      </p:pic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638425" y="5314950"/>
            <a:ext cx="692467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250" b="1" spc="-37">
                <a:solidFill>
                  <a:srgbClr val="FFFFFF"/>
                </a:solidFill>
                <a:latin typeface="Microsoft YaHei"/>
                <a:ea typeface="Microsoft YaHei"/>
              </a:rPr>
              <a:t xml:space="preserve">Don't just deliver the message. </a:t>
            </a:r>
            <a:r>
              <a:rPr lang="en-US" sz="2250" b="1" spc="-37">
                <a:solidFill>
                  <a:srgbClr val="5DE4B0"/>
                </a:solidFill>
                <a:latin typeface="Microsoft YaHei"/>
                <a:ea typeface="Microsoft YaHei"/>
              </a:rPr>
              <a:t>Deliver the action.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810250" y="5772150"/>
            <a:ext cx="571500" cy="28575"/>
          </a:xfrm>
          <a:prstGeom prst="rect">
            <a:avLst/>
          </a:prstGeom>
          <a:solidFill>
            <a:srgbClr val="0C8979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371975" y="5915025"/>
            <a:ext cx="344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One team chat. Smarter workdays.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6286500"/>
            <a:ext cx="99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-37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SHIFTBRIDGE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972800" y="63150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07 / 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2026-10-10T20:41:40Z</dcterms:created>
  <dcterms:modified xsi:type="dcterms:W3CDTF">2026-10-10T20:41:40Z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{"AIGC":{"Label":"1","ContentProducer":"00119111010856365494821B355","ProduceID":"01a125592d237f42a152cdb33c540d67","ReservedCode1":"","ContentPropagator":"00119111010856365494821B355","PropagateID":"01a125592d237f42a152cdb33c540d67","ReservedCode2":""}}</vt:lpwstr>
  </property>
</Properties>
</file>